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F7FAF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7FAF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7FAF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7FAF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99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85525" y="-46870"/>
            <a:ext cx="7389075" cy="6583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F7FAF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58149" y="1578895"/>
            <a:ext cx="9472930" cy="2865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aisoni Hea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40081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417955" y="1995805"/>
            <a:ext cx="9356090" cy="1179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890"/>
              </a:spcBef>
            </a:pPr>
            <a:r>
              <a:rPr lang="en-US" sz="3200" b="1" spc="-10" dirty="0">
                <a:solidFill>
                  <a:srgbClr val="000000"/>
                </a:solidFill>
                <a:latin typeface="Arial"/>
                <a:cs typeface="Arial"/>
              </a:rPr>
              <a:t>Cyberbullying</a:t>
            </a:r>
            <a:r>
              <a:rPr lang="en-US" sz="3200" b="1" spc="-1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Arial"/>
                <a:cs typeface="Arial"/>
              </a:rPr>
              <a:t>Detection</a:t>
            </a:r>
            <a:r>
              <a:rPr lang="en-US" sz="3200" b="1" spc="-1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Arial"/>
                <a:cs typeface="Arial"/>
              </a:rPr>
              <a:t>on</a:t>
            </a:r>
            <a:r>
              <a:rPr lang="en-US" sz="3200" b="1" spc="-1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3200" b="1" spc="-10" dirty="0">
                <a:solidFill>
                  <a:srgbClr val="000000"/>
                </a:solidFill>
                <a:latin typeface="Arial"/>
                <a:cs typeface="Arial"/>
              </a:rPr>
              <a:t>Social</a:t>
            </a:r>
            <a:endParaRPr lang="en-US" sz="3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  <a:tabLst>
                <a:tab pos="807720" algn="l"/>
                <a:tab pos="10680065" algn="l"/>
              </a:tabLst>
            </a:pPr>
            <a:r>
              <a:rPr lang="en-US" sz="3200" b="1" u="heavy" dirty="0">
                <a:solidFill>
                  <a:srgbClr val="000000"/>
                </a:solidFill>
                <a:uFill>
                  <a:solidFill>
                    <a:srgbClr val="66358B"/>
                  </a:solidFill>
                </a:uFill>
                <a:latin typeface="Arial"/>
                <a:cs typeface="Arial"/>
              </a:rPr>
              <a:t>Networks</a:t>
            </a:r>
            <a:r>
              <a:rPr lang="en-US" sz="3200" b="1" u="heavy" spc="-180" dirty="0">
                <a:solidFill>
                  <a:srgbClr val="000000"/>
                </a:solidFill>
                <a:uFill>
                  <a:solidFill>
                    <a:srgbClr val="66358B"/>
                  </a:solidFill>
                </a:uFill>
                <a:latin typeface="Arial"/>
                <a:cs typeface="Arial"/>
              </a:rPr>
              <a:t> </a:t>
            </a:r>
            <a:r>
              <a:rPr lang="en-US" sz="3200" b="1" u="heavy" dirty="0">
                <a:solidFill>
                  <a:srgbClr val="000000"/>
                </a:solidFill>
                <a:uFill>
                  <a:solidFill>
                    <a:srgbClr val="66358B"/>
                  </a:solidFill>
                </a:uFill>
                <a:latin typeface="Arial"/>
                <a:cs typeface="Arial"/>
              </a:rPr>
              <a:t>using</a:t>
            </a:r>
            <a:r>
              <a:rPr lang="en-US" sz="3200" b="1" u="heavy" spc="-185" dirty="0">
                <a:solidFill>
                  <a:srgbClr val="000000"/>
                </a:solidFill>
                <a:uFill>
                  <a:solidFill>
                    <a:srgbClr val="66358B"/>
                  </a:solidFill>
                </a:uFill>
                <a:latin typeface="Arial"/>
                <a:cs typeface="Arial"/>
              </a:rPr>
              <a:t> </a:t>
            </a:r>
            <a:r>
              <a:rPr lang="en-US" sz="3200" b="1" u="heavy" dirty="0">
                <a:solidFill>
                  <a:srgbClr val="000000"/>
                </a:solidFill>
                <a:uFill>
                  <a:solidFill>
                    <a:srgbClr val="66358B"/>
                  </a:solidFill>
                </a:uFill>
                <a:latin typeface="Arial"/>
                <a:cs typeface="Arial"/>
              </a:rPr>
              <a:t>Machine</a:t>
            </a:r>
            <a:r>
              <a:rPr lang="en-US" sz="3200" b="1" u="heavy" spc="-175" dirty="0">
                <a:solidFill>
                  <a:srgbClr val="000000"/>
                </a:solidFill>
                <a:uFill>
                  <a:solidFill>
                    <a:srgbClr val="66358B"/>
                  </a:solidFill>
                </a:uFill>
                <a:latin typeface="Arial"/>
                <a:cs typeface="Arial"/>
              </a:rPr>
              <a:t> </a:t>
            </a:r>
            <a:r>
              <a:rPr lang="en-US" sz="3200" b="1" u="heavy" spc="-10" dirty="0">
                <a:solidFill>
                  <a:srgbClr val="000000"/>
                </a:solidFill>
                <a:uFill>
                  <a:solidFill>
                    <a:srgbClr val="66358B"/>
                  </a:solidFill>
                </a:uFill>
                <a:latin typeface="Arial"/>
                <a:cs typeface="Arial"/>
              </a:rPr>
              <a:t>Learning</a:t>
            </a:r>
            <a:endParaRPr lang="en-US" altLang="en-GB" sz="32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3619070"/>
            <a:ext cx="40989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000" b="1" dirty="0">
                <a:latin typeface="Times New Roman" panose="02020603050405020304" charset="0"/>
                <a:cs typeface="Times New Roman" panose="02020603050405020304" charset="0"/>
              </a:rPr>
              <a:t>PRESENTER</a:t>
            </a:r>
          </a:p>
          <a:p>
            <a:endParaRPr lang="en-US" altLang="en-GB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Prithvi Bidkar (B-35)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8135620" y="3683635"/>
            <a:ext cx="310578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000" b="1" dirty="0">
                <a:latin typeface="Times New Roman" panose="02020603050405020304" charset="0"/>
                <a:cs typeface="Times New Roman" panose="02020603050405020304" charset="0"/>
              </a:rPr>
              <a:t>PROJECT GUIDE</a:t>
            </a:r>
          </a:p>
          <a:p>
            <a:endParaRPr lang="en-US" altLang="en-GB" sz="20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en-GB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  <a:p>
            <a:pPr algn="ctr"/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GHRCE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13740"/>
          </a:xfrm>
          <a:custGeom>
            <a:avLst/>
            <a:gdLst/>
            <a:ahLst/>
            <a:cxnLst/>
            <a:rect l="l" t="t" r="r" b="b"/>
            <a:pathLst>
              <a:path w="12192000" h="713740">
                <a:moveTo>
                  <a:pt x="12191999" y="713231"/>
                </a:moveTo>
                <a:lnTo>
                  <a:pt x="0" y="713231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13231"/>
                </a:lnTo>
                <a:close/>
              </a:path>
            </a:pathLst>
          </a:custGeom>
          <a:solidFill>
            <a:srgbClr val="663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99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2562" y="1052961"/>
            <a:ext cx="6487795" cy="50266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01295" marR="5080" indent="-189230">
              <a:lnSpc>
                <a:spcPct val="132000"/>
              </a:lnSpc>
              <a:spcBef>
                <a:spcPts val="180"/>
              </a:spcBef>
              <a:buSzPct val="111111"/>
              <a:buFont typeface="Arial MT"/>
              <a:buChar char="•"/>
              <a:tabLst>
                <a:tab pos="202565" algn="l"/>
              </a:tabLst>
            </a:pPr>
            <a:r>
              <a:rPr sz="1800" dirty="0">
                <a:latin typeface="Times New Roman"/>
                <a:cs typeface="Times New Roman"/>
              </a:rPr>
              <a:t>Cyberbullying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become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serious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concern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today's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digital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age, 	</a:t>
            </a:r>
            <a:r>
              <a:rPr sz="1800" dirty="0">
                <a:latin typeface="Times New Roman"/>
                <a:cs typeface="Times New Roman"/>
              </a:rPr>
              <a:t>particularly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social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media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platforms.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These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platforms,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while 	</a:t>
            </a:r>
            <a:r>
              <a:rPr sz="1800" dirty="0">
                <a:latin typeface="Times New Roman"/>
                <a:cs typeface="Times New Roman"/>
              </a:rPr>
              <a:t>offering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incredible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opportunities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connection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communication, 	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also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breeding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grounds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harmful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behavior.</a:t>
            </a:r>
            <a:endParaRPr sz="1800">
              <a:latin typeface="Times New Roman"/>
              <a:cs typeface="Times New Roman"/>
            </a:endParaRPr>
          </a:p>
          <a:p>
            <a:pPr marL="201295" marR="665480" indent="-189230">
              <a:lnSpc>
                <a:spcPct val="132800"/>
              </a:lnSpc>
              <a:spcBef>
                <a:spcPts val="1125"/>
              </a:spcBef>
              <a:buSzPct val="111111"/>
              <a:buFont typeface="Arial MT"/>
              <a:buChar char="•"/>
              <a:tabLst>
                <a:tab pos="202565" algn="l"/>
              </a:tabLst>
            </a:pPr>
            <a:r>
              <a:rPr sz="1800" dirty="0">
                <a:latin typeface="Times New Roman"/>
                <a:cs typeface="Times New Roman"/>
              </a:rPr>
              <a:t>Early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studies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focused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simple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methods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like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analyzing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 	</a:t>
            </a:r>
            <a:r>
              <a:rPr sz="1800" dirty="0">
                <a:latin typeface="Times New Roman"/>
                <a:cs typeface="Times New Roman"/>
              </a:rPr>
              <a:t>frequency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certain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keywords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rule-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 	</a:t>
            </a:r>
            <a:r>
              <a:rPr sz="1800" dirty="0">
                <a:latin typeface="Times New Roman"/>
                <a:cs typeface="Times New Roman"/>
              </a:rPr>
              <a:t>identify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potentially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offensive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language.</a:t>
            </a:r>
            <a:endParaRPr sz="1800">
              <a:latin typeface="Times New Roman"/>
              <a:cs typeface="Times New Roman"/>
            </a:endParaRPr>
          </a:p>
          <a:p>
            <a:pPr marL="201295" marR="217170" indent="-189230">
              <a:lnSpc>
                <a:spcPct val="131100"/>
              </a:lnSpc>
              <a:spcBef>
                <a:spcPts val="1175"/>
              </a:spcBef>
              <a:buSzPct val="111111"/>
              <a:buFont typeface="Arial MT"/>
              <a:buChar char="•"/>
              <a:tabLst>
                <a:tab pos="202565" algn="l"/>
              </a:tabLst>
            </a:pP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analyzing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language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social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media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posts,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machine 	</a:t>
            </a:r>
            <a:r>
              <a:rPr sz="1800" dirty="0">
                <a:latin typeface="Times New Roman"/>
                <a:cs typeface="Times New Roman"/>
              </a:rPr>
              <a:t>learning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trained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identify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patterns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	</a:t>
            </a:r>
            <a:r>
              <a:rPr sz="1800" spc="-10" dirty="0">
                <a:latin typeface="Times New Roman"/>
                <a:cs typeface="Times New Roman"/>
              </a:rPr>
              <a:t>characteristics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indicative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cyberbullying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behavior.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This 	</a:t>
            </a:r>
            <a:r>
              <a:rPr sz="1800" dirty="0">
                <a:latin typeface="Times New Roman"/>
                <a:cs typeface="Times New Roman"/>
              </a:rPr>
              <a:t>technology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potential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significantly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improve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our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ability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 	</a:t>
            </a:r>
            <a:r>
              <a:rPr sz="1800" dirty="0">
                <a:latin typeface="Times New Roman"/>
                <a:cs typeface="Times New Roman"/>
              </a:rPr>
              <a:t>identify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prevent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cyberbullying,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creating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safer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more 	</a:t>
            </a:r>
            <a:r>
              <a:rPr sz="1800" dirty="0">
                <a:latin typeface="Times New Roman"/>
                <a:cs typeface="Times New Roman"/>
              </a:rPr>
              <a:t>positive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online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environment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everyone.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5000" y="1928512"/>
            <a:ext cx="4218899" cy="27543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713740"/>
          </a:xfrm>
          <a:custGeom>
            <a:avLst/>
            <a:gdLst/>
            <a:ahLst/>
            <a:cxnLst/>
            <a:rect l="l" t="t" r="r" b="b"/>
            <a:pathLst>
              <a:path w="12192000" h="713740">
                <a:moveTo>
                  <a:pt x="12191999" y="713231"/>
                </a:moveTo>
                <a:lnTo>
                  <a:pt x="0" y="713231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13231"/>
                </a:lnTo>
                <a:close/>
              </a:path>
            </a:pathLst>
          </a:custGeom>
          <a:solidFill>
            <a:srgbClr val="663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6779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Workflow</a:t>
            </a:r>
            <a:r>
              <a:rPr spc="-175" dirty="0"/>
              <a:t> </a:t>
            </a:r>
            <a:r>
              <a:rPr spc="-10" dirty="0"/>
              <a:t>Diagram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4287" y="1293285"/>
            <a:ext cx="5547487" cy="49419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6154" y="804669"/>
            <a:ext cx="10146030" cy="4711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2075">
              <a:lnSpc>
                <a:spcPct val="1501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project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aims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identify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prevent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cyberbullying,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creating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safer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more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positive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online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environment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everyone.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Times New Roman"/>
                <a:cs typeface="Times New Roman"/>
              </a:rPr>
              <a:t>Phases: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workflow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consists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two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main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phases:</a:t>
            </a:r>
            <a:endParaRPr sz="1800">
              <a:latin typeface="Times New Roman"/>
              <a:cs typeface="Times New Roman"/>
            </a:endParaRPr>
          </a:p>
          <a:p>
            <a:pPr marL="469265" marR="5080" indent="-400050">
              <a:lnSpc>
                <a:spcPct val="150000"/>
              </a:lnSpc>
              <a:spcBef>
                <a:spcPts val="1000"/>
              </a:spcBef>
              <a:buFont typeface="Times New Roman"/>
              <a:buAutoNum type="arabicPeriod"/>
              <a:tabLst>
                <a:tab pos="469265" algn="l"/>
              </a:tabLst>
            </a:pPr>
            <a:r>
              <a:rPr sz="1800" b="1" dirty="0">
                <a:latin typeface="Times New Roman"/>
                <a:cs typeface="Times New Roman"/>
              </a:rPr>
              <a:t>Data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Collection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Preprocessing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We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gathered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social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media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which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includes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both </a:t>
            </a:r>
            <a:r>
              <a:rPr sz="1800" dirty="0">
                <a:latin typeface="Times New Roman"/>
                <a:cs typeface="Times New Roman"/>
              </a:rPr>
              <a:t>cyberbullying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instances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normal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conversations.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collected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cleaned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removing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irrelevant characters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transformed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into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numerical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format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suitable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machine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learning.</a:t>
            </a:r>
            <a:endParaRPr sz="1800">
              <a:latin typeface="Times New Roman"/>
              <a:cs typeface="Times New Roman"/>
            </a:endParaRPr>
          </a:p>
          <a:p>
            <a:pPr marL="469265" marR="311785" indent="-401955">
              <a:lnSpc>
                <a:spcPct val="150000"/>
              </a:lnSpc>
              <a:spcBef>
                <a:spcPts val="120"/>
              </a:spcBef>
              <a:buFont typeface="Calibri"/>
              <a:buAutoNum type="arabicPeriod"/>
              <a:tabLst>
                <a:tab pos="469265" algn="l"/>
              </a:tabLst>
            </a:pPr>
            <a:r>
              <a:rPr sz="1800" b="1" dirty="0">
                <a:latin typeface="Times New Roman"/>
                <a:cs typeface="Times New Roman"/>
              </a:rPr>
              <a:t>Model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Selection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Evaluation</a:t>
            </a:r>
            <a:r>
              <a:rPr sz="1800" dirty="0">
                <a:latin typeface="Times New Roman"/>
                <a:cs typeface="Times New Roman"/>
              </a:rPr>
              <a:t>:</a:t>
            </a:r>
            <a:r>
              <a:rPr sz="1800" spc="-75" dirty="0">
                <a:latin typeface="Times New Roman"/>
                <a:cs typeface="Times New Roman"/>
              </a:rPr>
              <a:t> We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explored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several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machine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learning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after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comparing performance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metrics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across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algorithms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ensure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optimal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cyberbullying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detection.</a:t>
            </a:r>
            <a:endParaRPr sz="1800">
              <a:latin typeface="Times New Roman"/>
              <a:cs typeface="Times New Roman"/>
            </a:endParaRPr>
          </a:p>
          <a:p>
            <a:pPr marL="457200" marR="1374775">
              <a:lnSpc>
                <a:spcPct val="150000"/>
              </a:lnSpc>
              <a:spcBef>
                <a:spcPts val="120"/>
              </a:spcBef>
            </a:pPr>
            <a:r>
              <a:rPr sz="1800" dirty="0">
                <a:latin typeface="Times New Roman"/>
                <a:cs typeface="Times New Roman"/>
              </a:rPr>
              <a:t>Results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demonstrate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model's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effectiveness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distinguishing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between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cyberbullying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spc="-10" dirty="0">
                <a:latin typeface="Times New Roman"/>
                <a:cs typeface="Times New Roman"/>
              </a:rPr>
              <a:t>non-</a:t>
            </a:r>
            <a:r>
              <a:rPr sz="1800" dirty="0">
                <a:latin typeface="Times New Roman"/>
                <a:cs typeface="Times New Roman"/>
              </a:rPr>
              <a:t>cyberbullying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content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high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degree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accuracy.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788681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0"/>
                </a:moveTo>
                <a:lnTo>
                  <a:pt x="12191999" y="7722"/>
                </a:lnTo>
              </a:path>
            </a:pathLst>
          </a:custGeom>
          <a:ln w="28949">
            <a:solidFill>
              <a:srgbClr val="351B7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192000" cy="713740"/>
          </a:xfrm>
          <a:custGeom>
            <a:avLst/>
            <a:gdLst/>
            <a:ahLst/>
            <a:cxnLst/>
            <a:rect l="l" t="t" r="r" b="b"/>
            <a:pathLst>
              <a:path w="12192000" h="713740">
                <a:moveTo>
                  <a:pt x="12191999" y="713231"/>
                </a:moveTo>
                <a:lnTo>
                  <a:pt x="0" y="713231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13231"/>
                </a:lnTo>
                <a:close/>
              </a:path>
            </a:pathLst>
          </a:custGeom>
          <a:solidFill>
            <a:srgbClr val="663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9965">
              <a:lnSpc>
                <a:spcPct val="100000"/>
              </a:lnSpc>
              <a:spcBef>
                <a:spcPts val="100"/>
              </a:spcBef>
            </a:pPr>
            <a:r>
              <a:rPr dirty="0"/>
              <a:t>Overview</a:t>
            </a:r>
            <a:r>
              <a:rPr spc="-105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541" y="1338193"/>
            <a:ext cx="10145395" cy="3811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0960" indent="-3810" algn="just">
              <a:lnSpc>
                <a:spcPct val="114999"/>
              </a:lnSpc>
              <a:spcBef>
                <a:spcPts val="100"/>
              </a:spcBef>
              <a:buSzPct val="94444"/>
              <a:buFont typeface="Arial MT"/>
              <a:buAutoNum type="arabicPeriod"/>
              <a:tabLst>
                <a:tab pos="202565" algn="l"/>
              </a:tabLst>
            </a:pPr>
            <a:r>
              <a:rPr sz="1800" b="1" dirty="0">
                <a:latin typeface="Times New Roman"/>
                <a:cs typeface="Times New Roman"/>
              </a:rPr>
              <a:t>	Data</a:t>
            </a:r>
            <a:r>
              <a:rPr sz="1800" b="1" spc="4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Collection:</a:t>
            </a:r>
            <a:r>
              <a:rPr sz="1800" b="1" spc="40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We'll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gather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dataset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social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media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messages,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including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examples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both </a:t>
            </a:r>
            <a:r>
              <a:rPr sz="1800" dirty="0">
                <a:latin typeface="Times New Roman"/>
                <a:cs typeface="Times New Roman"/>
              </a:rPr>
              <a:t>cyberbullying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non-</a:t>
            </a:r>
            <a:r>
              <a:rPr sz="1800" dirty="0">
                <a:latin typeface="Times New Roman"/>
                <a:cs typeface="Times New Roman"/>
              </a:rPr>
              <a:t>cyberbullying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content.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9"/>
              </a:spcBef>
              <a:buFont typeface="Arial MT"/>
              <a:buAutoNum type="arabicPeriod"/>
            </a:pPr>
            <a:endParaRPr sz="1800">
              <a:latin typeface="Times New Roman"/>
              <a:cs typeface="Times New Roman"/>
            </a:endParaRPr>
          </a:p>
          <a:p>
            <a:pPr marL="12700" marR="5080" indent="-3810" algn="just">
              <a:lnSpc>
                <a:spcPct val="114999"/>
              </a:lnSpc>
              <a:spcBef>
                <a:spcPts val="5"/>
              </a:spcBef>
              <a:buSzPct val="94444"/>
              <a:buFont typeface="Arial MT"/>
              <a:buAutoNum type="arabicPeriod"/>
              <a:tabLst>
                <a:tab pos="202565" algn="l"/>
              </a:tabLst>
            </a:pPr>
            <a:r>
              <a:rPr sz="1800" b="1" dirty="0">
                <a:latin typeface="Times New Roman"/>
                <a:cs typeface="Times New Roman"/>
              </a:rPr>
              <a:t>	Data</a:t>
            </a:r>
            <a:r>
              <a:rPr sz="1800" b="1" spc="2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Preprocessing:</a:t>
            </a:r>
            <a:r>
              <a:rPr sz="1800" b="1" spc="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crucial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step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involves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cleaning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preparing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raw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data.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We'll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remove </a:t>
            </a:r>
            <a:r>
              <a:rPr sz="1800" dirty="0">
                <a:latin typeface="Times New Roman"/>
                <a:cs typeface="Times New Roman"/>
              </a:rPr>
              <a:t>irrelevant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characters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like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URLs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emojis,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handle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missing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values,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convert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lowercase.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Techniques </a:t>
            </a:r>
            <a:r>
              <a:rPr sz="1800" dirty="0">
                <a:latin typeface="Times New Roman"/>
                <a:cs typeface="Times New Roman"/>
              </a:rPr>
              <a:t>like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stemming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will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applied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reduce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words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their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root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forms,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simplifying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analysis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improving </a:t>
            </a:r>
            <a:r>
              <a:rPr sz="1800" dirty="0">
                <a:latin typeface="Times New Roman"/>
                <a:cs typeface="Times New Roman"/>
              </a:rPr>
              <a:t>model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performance.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9"/>
              </a:spcBef>
              <a:buFont typeface="Arial MT"/>
              <a:buAutoNum type="arabicPeriod"/>
            </a:pPr>
            <a:endParaRPr sz="1800">
              <a:latin typeface="Times New Roman"/>
              <a:cs typeface="Times New Roman"/>
            </a:endParaRPr>
          </a:p>
          <a:p>
            <a:pPr marL="12700" marR="8890" indent="-3810" algn="just">
              <a:lnSpc>
                <a:spcPct val="114999"/>
              </a:lnSpc>
              <a:buSzPct val="94444"/>
              <a:buFont typeface="Arial MT"/>
              <a:buAutoNum type="arabicPeriod"/>
              <a:tabLst>
                <a:tab pos="202565" algn="l"/>
              </a:tabLst>
            </a:pPr>
            <a:r>
              <a:rPr sz="1800" b="1" dirty="0">
                <a:latin typeface="Times New Roman"/>
                <a:cs typeface="Times New Roman"/>
              </a:rPr>
              <a:t>	Feature</a:t>
            </a:r>
            <a:r>
              <a:rPr sz="1800" b="1" spc="46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Extraction:</a:t>
            </a:r>
            <a:r>
              <a:rPr sz="1800" b="1" spc="4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4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make</a:t>
            </a:r>
            <a:r>
              <a:rPr sz="1800" spc="4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4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4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4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understandable</a:t>
            </a:r>
            <a:r>
              <a:rPr sz="1800" spc="4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4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machine</a:t>
            </a:r>
            <a:r>
              <a:rPr sz="1800" spc="4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learning</a:t>
            </a:r>
            <a:r>
              <a:rPr sz="1800" spc="4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models,</a:t>
            </a:r>
            <a:r>
              <a:rPr sz="1800" spc="4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we'll</a:t>
            </a:r>
            <a:r>
              <a:rPr sz="1800" spc="47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use </a:t>
            </a:r>
            <a:r>
              <a:rPr sz="1800" dirty="0">
                <a:latin typeface="Times New Roman"/>
                <a:cs typeface="Times New Roman"/>
              </a:rPr>
              <a:t>techniques like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Bag-of-</a:t>
            </a:r>
            <a:r>
              <a:rPr sz="1800" spc="-10" dirty="0">
                <a:latin typeface="Times New Roman"/>
                <a:cs typeface="Times New Roman"/>
              </a:rPr>
              <a:t>Words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approach.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method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represents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collection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words,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where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each </a:t>
            </a:r>
            <a:r>
              <a:rPr sz="1800" dirty="0">
                <a:latin typeface="Times New Roman"/>
                <a:cs typeface="Times New Roman"/>
              </a:rPr>
              <a:t>word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provided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weight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its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frequency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within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document.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numerical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representation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allows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machine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learning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algorithms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effectively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analyze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learn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text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data.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713740"/>
          </a:xfrm>
          <a:custGeom>
            <a:avLst/>
            <a:gdLst/>
            <a:ahLst/>
            <a:cxnLst/>
            <a:rect l="l" t="t" r="r" b="b"/>
            <a:pathLst>
              <a:path w="12192000" h="713740">
                <a:moveTo>
                  <a:pt x="12191999" y="713231"/>
                </a:moveTo>
                <a:lnTo>
                  <a:pt x="0" y="713231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13231"/>
                </a:lnTo>
                <a:close/>
              </a:path>
            </a:pathLst>
          </a:custGeom>
          <a:solidFill>
            <a:srgbClr val="663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dirty="0"/>
              <a:t>Collection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Preprocessing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indent="-3810" algn="just">
              <a:lnSpc>
                <a:spcPct val="114999"/>
              </a:lnSpc>
              <a:spcBef>
                <a:spcPts val="100"/>
              </a:spcBef>
              <a:buSzPct val="94444"/>
              <a:buFont typeface="Arial MT"/>
              <a:buAutoNum type="arabicPeriod"/>
              <a:tabLst>
                <a:tab pos="202565" algn="l"/>
              </a:tabLst>
            </a:pPr>
            <a:r>
              <a:rPr b="1" dirty="0">
                <a:latin typeface="Times New Roman"/>
                <a:cs typeface="Times New Roman"/>
              </a:rPr>
              <a:t>	Model</a:t>
            </a:r>
            <a:r>
              <a:rPr b="1" spc="36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Selection</a:t>
            </a:r>
            <a:r>
              <a:rPr b="1" spc="36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3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Training:</a:t>
            </a:r>
            <a:r>
              <a:rPr b="1" spc="380" dirty="0">
                <a:latin typeface="Times New Roman"/>
                <a:cs typeface="Times New Roman"/>
              </a:rPr>
              <a:t> </a:t>
            </a:r>
            <a:r>
              <a:rPr dirty="0"/>
              <a:t>We'll</a:t>
            </a:r>
            <a:r>
              <a:rPr spc="360" dirty="0"/>
              <a:t> </a:t>
            </a:r>
            <a:r>
              <a:rPr dirty="0"/>
              <a:t>experiment</a:t>
            </a:r>
            <a:r>
              <a:rPr spc="365" dirty="0"/>
              <a:t> </a:t>
            </a:r>
            <a:r>
              <a:rPr dirty="0"/>
              <a:t>with</a:t>
            </a:r>
            <a:r>
              <a:rPr spc="365" dirty="0"/>
              <a:t> </a:t>
            </a:r>
            <a:r>
              <a:rPr dirty="0"/>
              <a:t>different</a:t>
            </a:r>
            <a:r>
              <a:rPr spc="360" dirty="0"/>
              <a:t> </a:t>
            </a:r>
            <a:r>
              <a:rPr dirty="0"/>
              <a:t>machine</a:t>
            </a:r>
            <a:r>
              <a:rPr spc="365" dirty="0"/>
              <a:t> </a:t>
            </a:r>
            <a:r>
              <a:rPr dirty="0"/>
              <a:t>learning</a:t>
            </a:r>
            <a:r>
              <a:rPr spc="365" dirty="0"/>
              <a:t> </a:t>
            </a:r>
            <a:r>
              <a:rPr spc="-10" dirty="0"/>
              <a:t>algorithms, </a:t>
            </a:r>
            <a:r>
              <a:rPr dirty="0"/>
              <a:t>including</a:t>
            </a:r>
            <a:r>
              <a:rPr spc="55" dirty="0"/>
              <a:t> </a:t>
            </a:r>
            <a:r>
              <a:rPr dirty="0"/>
              <a:t>Naive</a:t>
            </a:r>
            <a:r>
              <a:rPr spc="60" dirty="0"/>
              <a:t> </a:t>
            </a:r>
            <a:r>
              <a:rPr dirty="0"/>
              <a:t>Bayes,</a:t>
            </a:r>
            <a:r>
              <a:rPr spc="60" dirty="0"/>
              <a:t> </a:t>
            </a:r>
            <a:r>
              <a:rPr dirty="0"/>
              <a:t>Support</a:t>
            </a:r>
            <a:r>
              <a:rPr spc="25" dirty="0"/>
              <a:t> </a:t>
            </a:r>
            <a:r>
              <a:rPr spc="-10" dirty="0"/>
              <a:t>Vector</a:t>
            </a:r>
            <a:r>
              <a:rPr spc="60" dirty="0"/>
              <a:t> </a:t>
            </a:r>
            <a:r>
              <a:rPr dirty="0"/>
              <a:t>Machines</a:t>
            </a:r>
            <a:r>
              <a:rPr spc="60" dirty="0"/>
              <a:t> </a:t>
            </a:r>
            <a:r>
              <a:rPr dirty="0"/>
              <a:t>(SVM),</a:t>
            </a:r>
            <a:r>
              <a:rPr spc="60" dirty="0"/>
              <a:t> </a:t>
            </a:r>
            <a:r>
              <a:rPr dirty="0"/>
              <a:t>and</a:t>
            </a:r>
            <a:r>
              <a:rPr spc="55" dirty="0"/>
              <a:t> </a:t>
            </a:r>
            <a:r>
              <a:rPr dirty="0"/>
              <a:t>Random</a:t>
            </a:r>
            <a:r>
              <a:rPr spc="60" dirty="0"/>
              <a:t> </a:t>
            </a:r>
            <a:r>
              <a:rPr dirty="0"/>
              <a:t>Forest.</a:t>
            </a:r>
            <a:r>
              <a:rPr spc="35" dirty="0"/>
              <a:t> </a:t>
            </a:r>
            <a:r>
              <a:rPr dirty="0"/>
              <a:t>These</a:t>
            </a:r>
            <a:r>
              <a:rPr spc="55" dirty="0"/>
              <a:t> </a:t>
            </a:r>
            <a:r>
              <a:rPr dirty="0"/>
              <a:t>algorithms</a:t>
            </a:r>
            <a:r>
              <a:rPr spc="60" dirty="0"/>
              <a:t> </a:t>
            </a:r>
            <a:r>
              <a:rPr spc="-20" dirty="0"/>
              <a:t>will </a:t>
            </a:r>
            <a:r>
              <a:rPr dirty="0"/>
              <a:t>be</a:t>
            </a:r>
            <a:r>
              <a:rPr spc="5" dirty="0"/>
              <a:t> </a:t>
            </a:r>
            <a:r>
              <a:rPr dirty="0"/>
              <a:t>trained</a:t>
            </a:r>
            <a:r>
              <a:rPr spc="15" dirty="0"/>
              <a:t> </a:t>
            </a:r>
            <a:r>
              <a:rPr dirty="0"/>
              <a:t>on</a:t>
            </a:r>
            <a:r>
              <a:rPr spc="2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preprocessed</a:t>
            </a:r>
            <a:r>
              <a:rPr spc="20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dirty="0"/>
              <a:t>transformed</a:t>
            </a:r>
            <a:r>
              <a:rPr spc="20" dirty="0"/>
              <a:t> </a:t>
            </a:r>
            <a:r>
              <a:rPr dirty="0"/>
              <a:t>data.</a:t>
            </a:r>
            <a:r>
              <a:rPr spc="15" dirty="0"/>
              <a:t> </a:t>
            </a:r>
            <a:r>
              <a:rPr dirty="0"/>
              <a:t>During</a:t>
            </a:r>
            <a:r>
              <a:rPr spc="20" dirty="0"/>
              <a:t> </a:t>
            </a:r>
            <a:r>
              <a:rPr dirty="0"/>
              <a:t>training,</a:t>
            </a:r>
            <a:r>
              <a:rPr spc="15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models</a:t>
            </a:r>
            <a:r>
              <a:rPr spc="15" dirty="0"/>
              <a:t> </a:t>
            </a:r>
            <a:r>
              <a:rPr dirty="0"/>
              <a:t>will</a:t>
            </a:r>
            <a:r>
              <a:rPr spc="20" dirty="0"/>
              <a:t> </a:t>
            </a:r>
            <a:r>
              <a:rPr dirty="0"/>
              <a:t>learn</a:t>
            </a:r>
            <a:r>
              <a:rPr spc="15" dirty="0"/>
              <a:t> </a:t>
            </a:r>
            <a:r>
              <a:rPr dirty="0"/>
              <a:t>to</a:t>
            </a:r>
            <a:r>
              <a:rPr spc="20" dirty="0"/>
              <a:t> </a:t>
            </a:r>
            <a:r>
              <a:rPr spc="-10" dirty="0"/>
              <a:t>identify </a:t>
            </a:r>
            <a:r>
              <a:rPr dirty="0"/>
              <a:t>patterns</a:t>
            </a:r>
            <a:r>
              <a:rPr spc="465" dirty="0"/>
              <a:t> </a:t>
            </a:r>
            <a:r>
              <a:rPr dirty="0"/>
              <a:t>and</a:t>
            </a:r>
            <a:r>
              <a:rPr spc="465" dirty="0"/>
              <a:t> </a:t>
            </a:r>
            <a:r>
              <a:rPr dirty="0"/>
              <a:t>relationships</a:t>
            </a:r>
            <a:r>
              <a:rPr spc="470" dirty="0"/>
              <a:t> </a:t>
            </a:r>
            <a:r>
              <a:rPr dirty="0"/>
              <a:t>within</a:t>
            </a:r>
            <a:r>
              <a:rPr spc="465" dirty="0"/>
              <a:t> </a:t>
            </a:r>
            <a:r>
              <a:rPr dirty="0"/>
              <a:t>the</a:t>
            </a:r>
            <a:r>
              <a:rPr spc="465" dirty="0"/>
              <a:t> </a:t>
            </a:r>
            <a:r>
              <a:rPr dirty="0"/>
              <a:t>data</a:t>
            </a:r>
            <a:r>
              <a:rPr spc="470" dirty="0"/>
              <a:t> </a:t>
            </a:r>
            <a:r>
              <a:rPr dirty="0"/>
              <a:t>that</a:t>
            </a:r>
            <a:r>
              <a:rPr spc="465" dirty="0"/>
              <a:t> </a:t>
            </a:r>
            <a:r>
              <a:rPr dirty="0"/>
              <a:t>distinguish</a:t>
            </a:r>
            <a:r>
              <a:rPr spc="465" dirty="0"/>
              <a:t> </a:t>
            </a:r>
            <a:r>
              <a:rPr dirty="0"/>
              <a:t>cyberbullying</a:t>
            </a:r>
            <a:r>
              <a:rPr spc="470" dirty="0"/>
              <a:t> </a:t>
            </a:r>
            <a:r>
              <a:rPr dirty="0"/>
              <a:t>from</a:t>
            </a:r>
            <a:r>
              <a:rPr spc="465" dirty="0"/>
              <a:t> </a:t>
            </a:r>
            <a:r>
              <a:rPr spc="-10" dirty="0"/>
              <a:t>non-cyberbullying messages.</a:t>
            </a:r>
          </a:p>
          <a:p>
            <a:pPr>
              <a:lnSpc>
                <a:spcPct val="100000"/>
              </a:lnSpc>
              <a:spcBef>
                <a:spcPts val="409"/>
              </a:spcBef>
              <a:buFont typeface="Arial MT"/>
              <a:buAutoNum type="arabicPeriod"/>
            </a:pPr>
            <a:endParaRPr spc="-10" dirty="0"/>
          </a:p>
          <a:p>
            <a:pPr marL="12700" marR="5080" indent="-3810" algn="just">
              <a:lnSpc>
                <a:spcPct val="114999"/>
              </a:lnSpc>
              <a:spcBef>
                <a:spcPts val="5"/>
              </a:spcBef>
              <a:buSzPct val="94444"/>
              <a:buFont typeface="Arial MT"/>
              <a:buAutoNum type="arabicPeriod"/>
              <a:tabLst>
                <a:tab pos="202565" algn="l"/>
              </a:tabLst>
            </a:pPr>
            <a:r>
              <a:rPr b="1" dirty="0">
                <a:latin typeface="Times New Roman"/>
                <a:cs typeface="Times New Roman"/>
              </a:rPr>
              <a:t>	Model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Evaluation: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spc="-75" dirty="0"/>
              <a:t>We</a:t>
            </a:r>
            <a:r>
              <a:rPr spc="-35" dirty="0"/>
              <a:t> </a:t>
            </a:r>
            <a:r>
              <a:rPr dirty="0"/>
              <a:t>will</a:t>
            </a:r>
            <a:r>
              <a:rPr spc="-35" dirty="0"/>
              <a:t> </a:t>
            </a:r>
            <a:r>
              <a:rPr dirty="0"/>
              <a:t>rigorously</a:t>
            </a:r>
            <a:r>
              <a:rPr spc="-30" dirty="0"/>
              <a:t> </a:t>
            </a:r>
            <a:r>
              <a:rPr dirty="0"/>
              <a:t>evaluate</a:t>
            </a:r>
            <a:r>
              <a:rPr spc="-3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performance</a:t>
            </a:r>
            <a:r>
              <a:rPr spc="-3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our</a:t>
            </a:r>
            <a:r>
              <a:rPr spc="-30" dirty="0"/>
              <a:t> </a:t>
            </a:r>
            <a:r>
              <a:rPr dirty="0"/>
              <a:t>trained</a:t>
            </a:r>
            <a:r>
              <a:rPr spc="-30" dirty="0"/>
              <a:t> </a:t>
            </a:r>
            <a:r>
              <a:rPr dirty="0"/>
              <a:t>models</a:t>
            </a:r>
            <a:r>
              <a:rPr spc="-30" dirty="0"/>
              <a:t> </a:t>
            </a:r>
            <a:r>
              <a:rPr dirty="0"/>
              <a:t>using</a:t>
            </a:r>
            <a:r>
              <a:rPr spc="5" dirty="0"/>
              <a:t> </a:t>
            </a:r>
            <a:r>
              <a:rPr spc="-10" dirty="0"/>
              <a:t>metrics </a:t>
            </a:r>
            <a:r>
              <a:rPr dirty="0"/>
              <a:t>such</a:t>
            </a:r>
            <a:r>
              <a:rPr spc="-15" dirty="0"/>
              <a:t> </a:t>
            </a:r>
            <a:r>
              <a:rPr dirty="0"/>
              <a:t>as</a:t>
            </a:r>
            <a:r>
              <a:rPr spc="-10" dirty="0"/>
              <a:t> accuracy, </a:t>
            </a:r>
            <a:r>
              <a:rPr dirty="0"/>
              <a:t>precision,</a:t>
            </a:r>
            <a:r>
              <a:rPr spc="-10" dirty="0"/>
              <a:t> </a:t>
            </a:r>
            <a:r>
              <a:rPr dirty="0"/>
              <a:t>recall,</a:t>
            </a:r>
            <a:r>
              <a:rPr spc="-10" dirty="0"/>
              <a:t> </a:t>
            </a:r>
            <a:r>
              <a:rPr dirty="0"/>
              <a:t>and</a:t>
            </a:r>
            <a:r>
              <a:rPr spc="-10" dirty="0"/>
              <a:t> F1-</a:t>
            </a:r>
            <a:r>
              <a:rPr dirty="0"/>
              <a:t>score.</a:t>
            </a:r>
            <a:r>
              <a:rPr spc="-40" dirty="0"/>
              <a:t> </a:t>
            </a:r>
            <a:r>
              <a:rPr dirty="0"/>
              <a:t>These</a:t>
            </a:r>
            <a:r>
              <a:rPr spc="-10" dirty="0"/>
              <a:t> </a:t>
            </a:r>
            <a:r>
              <a:rPr dirty="0"/>
              <a:t>metrics</a:t>
            </a:r>
            <a:r>
              <a:rPr spc="-10" dirty="0"/>
              <a:t> </a:t>
            </a:r>
            <a:r>
              <a:rPr dirty="0"/>
              <a:t>will</a:t>
            </a:r>
            <a:r>
              <a:rPr spc="-10" dirty="0"/>
              <a:t> </a:t>
            </a:r>
            <a:r>
              <a:rPr dirty="0"/>
              <a:t>help</a:t>
            </a:r>
            <a:r>
              <a:rPr spc="-10" dirty="0"/>
              <a:t> </a:t>
            </a:r>
            <a:r>
              <a:rPr dirty="0"/>
              <a:t>us</a:t>
            </a:r>
            <a:r>
              <a:rPr spc="-10" dirty="0"/>
              <a:t> </a:t>
            </a:r>
            <a:r>
              <a:rPr dirty="0"/>
              <a:t>determine</a:t>
            </a:r>
            <a:r>
              <a:rPr spc="-10" dirty="0"/>
              <a:t> </a:t>
            </a:r>
            <a:r>
              <a:rPr dirty="0"/>
              <a:t>how</a:t>
            </a:r>
            <a:r>
              <a:rPr spc="-15" dirty="0"/>
              <a:t> </a:t>
            </a:r>
            <a:r>
              <a:rPr spc="-10" dirty="0"/>
              <a:t>effectively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models</a:t>
            </a:r>
            <a:r>
              <a:rPr spc="-45" dirty="0"/>
              <a:t> </a:t>
            </a:r>
            <a:r>
              <a:rPr dirty="0"/>
              <a:t>can</a:t>
            </a:r>
            <a:r>
              <a:rPr spc="-45" dirty="0"/>
              <a:t> </a:t>
            </a:r>
            <a:r>
              <a:rPr dirty="0"/>
              <a:t>identify</a:t>
            </a:r>
            <a:r>
              <a:rPr spc="-40" dirty="0"/>
              <a:t> </a:t>
            </a:r>
            <a:r>
              <a:rPr dirty="0"/>
              <a:t>cyberbullying</a:t>
            </a:r>
            <a:r>
              <a:rPr spc="-40" dirty="0"/>
              <a:t> </a:t>
            </a:r>
            <a:r>
              <a:rPr dirty="0"/>
              <a:t>while</a:t>
            </a:r>
            <a:r>
              <a:rPr spc="-50" dirty="0"/>
              <a:t> </a:t>
            </a:r>
            <a:r>
              <a:rPr dirty="0"/>
              <a:t>minimizing</a:t>
            </a:r>
            <a:r>
              <a:rPr spc="-40" dirty="0"/>
              <a:t> </a:t>
            </a:r>
            <a:r>
              <a:rPr dirty="0"/>
              <a:t>false</a:t>
            </a:r>
            <a:r>
              <a:rPr spc="-45" dirty="0"/>
              <a:t> </a:t>
            </a:r>
            <a:r>
              <a:rPr dirty="0"/>
              <a:t>positives</a:t>
            </a:r>
            <a:r>
              <a:rPr spc="-5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negatives.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788681"/>
            <a:ext cx="12192000" cy="8255"/>
          </a:xfrm>
          <a:custGeom>
            <a:avLst/>
            <a:gdLst/>
            <a:ahLst/>
            <a:cxnLst/>
            <a:rect l="l" t="t" r="r" b="b"/>
            <a:pathLst>
              <a:path w="12192000" h="8254">
                <a:moveTo>
                  <a:pt x="0" y="0"/>
                </a:moveTo>
                <a:lnTo>
                  <a:pt x="12191999" y="7722"/>
                </a:lnTo>
              </a:path>
            </a:pathLst>
          </a:custGeom>
          <a:ln w="28949">
            <a:solidFill>
              <a:srgbClr val="351B7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192000" cy="713740"/>
          </a:xfrm>
          <a:custGeom>
            <a:avLst/>
            <a:gdLst/>
            <a:ahLst/>
            <a:cxnLst/>
            <a:rect l="l" t="t" r="r" b="b"/>
            <a:pathLst>
              <a:path w="12192000" h="713740">
                <a:moveTo>
                  <a:pt x="12191999" y="713231"/>
                </a:moveTo>
                <a:lnTo>
                  <a:pt x="0" y="713231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13231"/>
                </a:lnTo>
                <a:close/>
              </a:path>
            </a:pathLst>
          </a:custGeom>
          <a:solidFill>
            <a:srgbClr val="663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</a:t>
            </a:r>
            <a:r>
              <a:rPr spc="-40" dirty="0"/>
              <a:t> </a:t>
            </a:r>
            <a:r>
              <a:rPr dirty="0"/>
              <a:t>Selection</a:t>
            </a:r>
            <a:r>
              <a:rPr spc="-3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54092" y="2947110"/>
            <a:ext cx="30543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000000"/>
                </a:solidFill>
                <a:latin typeface="Calibri"/>
                <a:cs typeface="Calibri"/>
              </a:rPr>
              <a:t>THANK</a:t>
            </a:r>
            <a:r>
              <a:rPr sz="4800" b="1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800" b="1" spc="-50" dirty="0">
                <a:solidFill>
                  <a:srgbClr val="000000"/>
                </a:solidFill>
                <a:latin typeface="Calibri"/>
                <a:cs typeface="Calibri"/>
              </a:rPr>
              <a:t>YOU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530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MT</vt:lpstr>
      <vt:lpstr>Calibri</vt:lpstr>
      <vt:lpstr>Times New Roman</vt:lpstr>
      <vt:lpstr>Office Theme</vt:lpstr>
      <vt:lpstr>PowerPoint Presentation</vt:lpstr>
      <vt:lpstr>Introduction</vt:lpstr>
      <vt:lpstr>Workflow Diagram</vt:lpstr>
      <vt:lpstr>Overview of Workflow</vt:lpstr>
      <vt:lpstr>Data Collection and Preprocessing</vt:lpstr>
      <vt:lpstr>Model Selection and Evaluation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DownloadROC.aspx</dc:title>
  <dc:creator>Suho</dc:creator>
  <cp:lastModifiedBy>Prithvi Bidkar</cp:lastModifiedBy>
  <cp:revision>1</cp:revision>
  <dcterms:created xsi:type="dcterms:W3CDTF">2025-09-06T16:10:43Z</dcterms:created>
  <dcterms:modified xsi:type="dcterms:W3CDTF">2025-09-06T16:17:28Z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2025-09-06T00:00:00Z</vt:filetime>
  </property>
  <property fmtid="{D5CDD505-2E9C-101B-9397-08002B2CF9AE}" pid="3" name="Creator">
    <vt:lpwstr>Google</vt:lpwstr>
  </property>
  <property fmtid="{D5CDD505-2E9C-101B-9397-08002B2CF9AE}" pid="4" name="LastSaved">
    <vt:filetime>2025-09-06T00:00:00Z</vt:filetime>
  </property>
</Properties>
</file>